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ANALYTIX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000" b="0">
                <a:solidFill>
                  <a:srgbClr val="00B7C3"/>
                </a:solidFill>
                <a:latin typeface="Segoe UI"/>
              </a:rPr>
              <a:t>Enterprise Inputs &amp; Outputs Reference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41148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13716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Segoe UI"/>
              </a:rPr>
              <a:t>Microsoft Azure Marketplace Technical Evaluation
FDA 21 CFR Part 11 Compliant Environment
Product Version: v4.2.0 (Production Release)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1: Supported Data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029200" cy="3200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Laboratory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ELN: Benchling, Dotmatics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LIMS: LabWare, LabVantage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Assay definitions &amp; audit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2"/>
            <a:ext cx="5029200" cy="3200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Enterprise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PostgreSQL, MySQL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Oracle Database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Microsoft SQL Server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Snowflake Data Warehouse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3035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05072"/>
            <a:ext cx="5029200" cy="3200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Scientific Ingest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4937760" cy="1554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Structured: CSV, Excel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Semi-structured: JSON, XML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Biological: FASTA sequence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319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05072"/>
            <a:ext cx="5029200" cy="3200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APIs &amp; Cloud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937760" cy="1554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REST &amp; SOAP APIs integrations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AWS S3, Azure Blob, GCS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Secure SFTP drop zones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2: Platform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37160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Data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371600"/>
            <a:ext cx="1371600" cy="7315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371600"/>
            <a:ext cx="1371600" cy="73152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EAV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371600"/>
            <a:ext cx="1371600" cy="7315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Query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371600"/>
            <a:ext cx="13716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371600"/>
            <a:ext cx="1371600" cy="7315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AI Scientist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554480"/>
            <a:ext cx="18288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371600"/>
            <a:ext cx="1371600" cy="73152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508760"/>
            <a:ext cx="137160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Reports &amp;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400" b="1">
                <a:solidFill>
                  <a:srgbClr val="005A9E"/>
                </a:solidFill>
                <a:latin typeface="Segoe UI"/>
              </a:rPr>
              <a:t>Ingestion &amp; Federation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3474720" cy="36576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Data validation &amp; types check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Data quality filtering runs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Metadata Discovery &amp; cataloging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Schema Discovery mapper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Federated queries on multiple DBs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468880"/>
            <a:ext cx="34747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400" b="1">
                <a:solidFill>
                  <a:srgbClr val="005A9E"/>
                </a:solidFill>
                <a:latin typeface="Segoe UI"/>
              </a:rPr>
              <a:t>Scientific Compute &amp;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880360"/>
            <a:ext cx="3474720" cy="36576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Data integration &amp; consolidation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Molecular compound calculations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DNA/RNA sequence alignments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Dose-response curve fitting (4PL)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AI Scientist Copilot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68880"/>
            <a:ext cx="34747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400" b="1">
                <a:solidFill>
                  <a:srgbClr val="005A9E"/>
                </a:solidFill>
                <a:latin typeface="Segoe UI"/>
              </a:rPr>
              <a:t>Audit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0360"/>
            <a:ext cx="3474720" cy="36576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Metadata EAV modeling indexing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Compliance validation engine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Cryptographic audit logs chaining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Cryptographic SHA-256 signatures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Immutable data lineage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3: High-Value Platform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920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92024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92024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Analytics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773936" cy="40233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Curve fit models (IC50)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Similarity matrices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Sequence identity plots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Scatter &amp; Heatmap plots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Executive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1920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1920240" cy="5486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192024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AI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011680"/>
            <a:ext cx="1773936" cy="40233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Natural language answers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Research context brief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Molecular suggestions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Automated workflows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Executive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371600"/>
            <a:ext cx="1920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1920240" cy="54864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463040"/>
            <a:ext cx="192024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Reports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011680"/>
            <a:ext cx="1773936" cy="40233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FDA compliance PDFs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Structured Excel runs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PowerPoint slide decks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CSV spreadsheet outputs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Regulatory audit packs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371600"/>
            <a:ext cx="1920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1371600"/>
            <a:ext cx="1920240" cy="548640"/>
          </a:xfrm>
          <a:prstGeom prst="rect">
            <a:avLst/>
          </a:prstGeom>
          <a:solidFill>
            <a:srgbClr val="762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463040"/>
            <a:ext cx="192024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Regulatory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011680"/>
            <a:ext cx="1773936" cy="40233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Double-entry E-Signatures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SHA-256 audit ledger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Data lineage traces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Historical versions map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21 CFR Part 11 summaries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371600"/>
            <a:ext cx="1920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1371600"/>
            <a:ext cx="19202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463040"/>
            <a:ext cx="192024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Operational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011680"/>
            <a:ext cx="1773936" cy="40233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Pipeline run updates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Approval requests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Custom Slack Webhooks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Immediate email alerts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Scheduled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4: Enterprise 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56032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Scientists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286000" cy="3840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Accelerates research cycles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Automates data aggregation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Interactive AI Copilot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54480"/>
            <a:ext cx="25603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Research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286000" cy="3840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Unified program visibility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Real-time project dashboard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Scientific decision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560320" cy="548640"/>
          </a:xfrm>
          <a:prstGeom prst="rect">
            <a:avLst/>
          </a:prstGeom>
          <a:solidFill>
            <a:srgbClr val="762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Compliance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286000" cy="3840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Full raw-to-final lineage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Cryptographic SHA-256 logs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Rapid FDA Part 11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560320" cy="5486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554480"/>
            <a:ext cx="2560320" cy="365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IT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03120"/>
            <a:ext cx="2286000" cy="38404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Federated database query layers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Standard OAuth &amp; RBAC rules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4155"/>
                </a:solidFill>
                <a:latin typeface="Segoe UI"/>
              </a:rPr>
              <a:t>• Scalable secure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5: Sample Client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500" b="1">
                <a:solidFill>
                  <a:srgbClr val="92400E"/>
                </a:solidFill>
                <a:latin typeface="Segoe UI"/>
              </a:rPr>
              <a:t>CUSTOMER DATA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34747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785304"/>
                </a:solidFill>
                <a:latin typeface="Segoe UI"/>
              </a:rPr>
              <a:t>1. Snowflake / PostgreSQL databases are connected via secure credentials.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785304"/>
                </a:solidFill>
                <a:latin typeface="Segoe UI"/>
              </a:rPr>
              <a:t>2. Benchling ELN research studies and assay run templates are imported.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785304"/>
                </a:solidFill>
                <a:latin typeface="Segoe UI"/>
              </a:rPr>
              <a:t>3. High-throughput CSV plates files containing screening numbers are uploaded.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785304"/>
                </a:solidFill>
                <a:latin typeface="Segoe UI"/>
              </a:rPr>
              <a:t>4. Genomic sequence FASTA files are added to sequence database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1500" b="1">
                <a:solidFill>
                  <a:srgbClr val="065F46"/>
                </a:solidFill>
                <a:latin typeface="Segoe UI"/>
              </a:rPr>
              <a:t>ANALYTIX PLATFORM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754880" cy="34747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Establish Read-Only Secure connections to all sources.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Automatically discover metadata structures (EAV Schema mapping).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Creates biological-chemical relationships (SMILES mappings).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Executes dose-response fits (IC50 curves fits) automatically.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Triggers analytics workflows and registers compound descriptors.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64E3B"/>
                </a:solidFill>
                <a:latin typeface="Segoe UI"/>
              </a:rPr>
              <a:t>• Deploys project dashboards, logs transactions, and launches AI Copilot.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Section 6: Visual Value Infographic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AnalytiX Platform - Inputs &amp; Outputs Reference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46888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9456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CUSTOMER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194560" cy="30175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Segoe UI"/>
              </a:rPr>
              <a:t>ELN &amp; LIMS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Segoe UI"/>
              </a:rPr>
              <a:t>Databases &amp; APIs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Segoe UI"/>
              </a:rPr>
              <a:t>Standard Files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Segoe UI"/>
              </a:rPr>
              <a:t>Raw SMILES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474720"/>
            <a:ext cx="27432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468880" cy="411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19456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Segoe UI"/>
              </a:rPr>
              <a:t>AnalytiX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2194560" cy="30175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40AF"/>
                </a:solidFill>
                <a:latin typeface="Segoe UI"/>
              </a:rPr>
              <a:t>Schema discovery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40AF"/>
                </a:solidFill>
                <a:latin typeface="Segoe UI"/>
              </a:rPr>
              <a:t>Data validation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40AF"/>
                </a:solidFill>
                <a:latin typeface="Segoe UI"/>
              </a:rPr>
              <a:t>EAV Catalog engine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40AF"/>
                </a:solidFill>
                <a:latin typeface="Segoe UI"/>
              </a:rPr>
              <a:t>Data Lineage tracing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474720"/>
            <a:ext cx="27432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19456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00B7C3"/>
                </a:solidFill>
                <a:latin typeface="Segoe UI"/>
              </a:rPr>
              <a:t>AI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2194560" cy="30175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AI Scientist Copilot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Dose-Response fits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Alignments grids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Compound descriptors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474720"/>
            <a:ext cx="27432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Segoe UI"/>
              </a:rP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468880" cy="41148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194560" cy="457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 algn="ctr"/>
            <a:r>
              <a:rPr sz="1300" b="1">
                <a:solidFill>
                  <a:srgbClr val="00B7C3"/>
                </a:solidFill>
                <a:latin typeface="Segoe UI"/>
              </a:rPr>
              <a:t>BUSINESS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560320"/>
            <a:ext cx="2194560" cy="30175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Accelerated Research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100% FDA compliance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No database silos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Segoe UI"/>
              </a:rPr>
              <a:t>Informed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